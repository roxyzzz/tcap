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864393-87BF-4673-8FEE-6445B2008202}">
  <a:tblStyle styleId="{43864393-87BF-4673-8FEE-6445B20082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Tahoma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f4fe4b05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f4fe4b05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af4fe4b05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f4fe4b05_2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af4fe4b05_2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af4fe4b05_2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f4fe4b05_2_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af4fe4b05_2_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af4fe4b05_2_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f4fe4b05_2_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af4fe4b05_2_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f4fe4b05_2_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f4fe4b05_2_9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af4fe4b05_2_9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af4fe4b05_2_9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f4fe4b05_2_1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af4fe4b05_2_1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af4fe4b05_2_1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f4fe4b05_2_1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af4fe4b05_2_1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f4fe4b05_2_1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f4fe4b05_2_1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af4fe4b05_2_1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af4fe4b05_2_1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f4fe4b05_2_1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af4fe4b05_2_1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af4fe4b05_2_1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f4fe4b05_2_1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af4fe4b05_2_1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af4fe4b05_2_1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f4fe4b05_2_20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f4fe4b05_2_20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f4fe4b05_2_20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f4fe4b05_2_2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af4fe4b05_2_2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af4fe4b05_2_2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583680" y="960120"/>
            <a:ext cx="2263140" cy="2263140"/>
          </a:xfrm>
          <a:prstGeom prst="ellipse">
            <a:avLst/>
          </a:prstGeom>
          <a:solidFill>
            <a:srgbClr val="081729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gavel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8030" y="1474470"/>
            <a:ext cx="123444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480060" y="1474470"/>
            <a:ext cx="58293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ahoma"/>
              <a:buNone/>
            </a:pPr>
            <a:r>
              <a:rPr b="1" i="0" lang="th" sz="6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TCAP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14350" y="2434590"/>
            <a:ext cx="58293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700"/>
              <a:buFont typeface="Tahoma"/>
              <a:buNone/>
            </a:pPr>
            <a:r>
              <a:rPr b="1" i="0" lang="th" sz="17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Trading Card Auction Protocol  •  v1.0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14350" y="2846070"/>
            <a:ext cx="56235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200"/>
              <a:buFont typeface="Tahoma"/>
              <a:buNone/>
            </a:pPr>
            <a:r>
              <a:rPr b="0" i="0" lang="th" sz="12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ระบบประมูลการ์ดเกมออนไลน์แบบเรียลไทม์ บนสถาปัตยกรรม Client-Server ผ่าน TCP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14350" y="456057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ผู้จัดทำ: </a:t>
            </a:r>
            <a:r>
              <a:rPr lang="th" sz="1000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6710451488 อชิระ ภู่รุ่งเรือง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วัตถุประสงค์ของโปรแกรม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11480" y="973836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Tahoma"/>
              <a:buNone/>
            </a:pPr>
            <a:r>
              <a:rPr b="0" i="0" lang="th" sz="11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ระบบประมูลการ์ดเกมออนไลน์แบบเรียลไทม์ — ให้ผู้ใช้ทำสิ่งเหล่านี้ได้ครบในที่เดียว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11480" y="147447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617220" y="176250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tags.png" id="73" name="Google Shape;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16" y="184720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1440180" y="1693926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Tahoma"/>
              <a:buNone/>
            </a:pPr>
            <a:r>
              <a:rPr b="1" i="0" lang="th" sz="14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เช็คราคาการ์ด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440180" y="2057400"/>
            <a:ext cx="26746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ตรวจสอบราคาตลาดของการ์ดแต่ละใบแบบเรียลไทม์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594860" y="147447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800600" y="176250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list.png" id="78" name="Google Shape;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5296" y="184720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5623560" y="1693926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Tahoma"/>
              <a:buNone/>
            </a:pPr>
            <a:r>
              <a:rPr b="1" i="0" lang="th" sz="14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ดูรายการประมูล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623560" y="2057400"/>
            <a:ext cx="26746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ดูห้องประมูลที่เปิดอยู่ทั้งหมดพร้อมรายละเอียด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11480" y="318897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17220" y="347700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gavel.png" id="83" name="Google Shape;8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916" y="356170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1440180" y="3408426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Tahoma"/>
              <a:buNone/>
            </a:pPr>
            <a:r>
              <a:rPr b="1" i="0" lang="th" sz="14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เสนอราคาประมูล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440180" y="3771900"/>
            <a:ext cx="26746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แข่งราคาสดกับผู้ใช้คนอื่นในห้องเดียวกัน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594860" y="318897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800600" y="347700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bell.png" id="88" name="Google Shape;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5296" y="356170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5623560" y="3408426"/>
            <a:ext cx="26746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Tahoma"/>
              <a:buNone/>
            </a:pPr>
            <a:r>
              <a:rPr b="1" i="0" lang="th" sz="14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รับแจ้งเตือนทันที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623560" y="3771900"/>
            <a:ext cx="26746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รู้ทันทีเมื่อมีคนเสนอราคาแซง ไม่ต้องถามซ้ำ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CHARACTERISTICS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คุณลักษณะของ Application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11480" y="106299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17220" y="135102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server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916" y="143572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/>
          <p:nvPr/>
        </p:nvSpPr>
        <p:spPr>
          <a:xfrm>
            <a:off x="1440180" y="1255014"/>
            <a:ext cx="26746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Tahoma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Client-Server หลายผู้ใช้พร้อมกัน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440180" y="1735074"/>
            <a:ext cx="26746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แยก 1 thread ต่อ 1 client รองรับผู้ใช้พร้อมกันได้หลายคน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594860" y="106299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4800600" y="135102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shield.png" id="106" name="Google Shape;10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5296" y="143572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5623560" y="1255014"/>
            <a:ext cx="26746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Tahoma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ข้อมูลห้ามหาย ห้ามสลับลำดับ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5623560" y="1735074"/>
            <a:ext cx="26746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เป็นธุรกรรมผูกกับเงิน ลำดับการ bid ตัดสินผู้ชนะ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11480" y="277749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17220" y="306552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plug.png" id="111" name="Google Shape;1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916" y="315022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440180" y="2969514"/>
            <a:ext cx="26746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Tahoma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คง Connection ตลอด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440180" y="3449574"/>
            <a:ext cx="26746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server ต้อง push event กลับมาเองได้โดย client ไม่ต้องถาม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94860" y="2777490"/>
            <a:ext cx="3909060" cy="147447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800600" y="3065526"/>
            <a:ext cx="651510" cy="65151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file.png" id="116" name="Google Shape;1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5296" y="3150222"/>
            <a:ext cx="482117" cy="48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5623560" y="2969514"/>
            <a:ext cx="26746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Tahoma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ข้อความแบบ Plain Text อ่านออกได้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5623560" y="3449574"/>
            <a:ext cx="26746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สั้น กระชับ ความยาวไม่คงที่ ดีบักง่าย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เลือกใช้ TCP เพราะอะไร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11480" y="1097280"/>
            <a:ext cx="2948940" cy="3566160"/>
          </a:xfrm>
          <a:prstGeom prst="roundRect">
            <a:avLst>
              <a:gd fmla="val 3256" name="adj"/>
            </a:avLst>
          </a:prstGeom>
          <a:solidFill>
            <a:srgbClr val="0B1F3A"/>
          </a:solidFill>
          <a:ln>
            <a:noFill/>
          </a:ln>
          <a:effectLst>
            <a:outerShdw blurRad="127000" rotWithShape="0" algn="bl" dir="5400000" dist="50800">
              <a:srgbClr val="1B2A4A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1594478" y="1375022"/>
            <a:ext cx="582900" cy="5829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check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258" y="1450803"/>
            <a:ext cx="431368" cy="4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411480" y="2023110"/>
            <a:ext cx="29489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ahoma"/>
              <a:buNone/>
            </a:pPr>
            <a:r>
              <a:rPr b="1" i="0" lang="th" sz="2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TCP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11480" y="2386584"/>
            <a:ext cx="29489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000"/>
              <a:buFont typeface="Tahoma"/>
              <a:buNone/>
            </a:pPr>
            <a:r>
              <a:rPr b="1" i="0" lang="th" sz="10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เลือกใช้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51510" y="2743200"/>
            <a:ext cx="2468880" cy="17487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• Reliable delivery — bid หายไม่ได้แม้แพ็กเก็ตเดียว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• In-order delivery — ลำดับ bid ตัดสินผู้ชนะ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• Connection-oriented — server push event กลับมาได้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• Flow / congestion control — คุมช่วง bid ถี่ตอนใกล้ปิด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600450" y="1097280"/>
            <a:ext cx="2160270" cy="356616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4389138" y="1344185"/>
            <a:ext cx="582900" cy="582900"/>
          </a:xfrm>
          <a:prstGeom prst="ellipse">
            <a:avLst/>
          </a:prstGeom>
          <a:solidFill>
            <a:srgbClr val="5B6B8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times.pn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4918" y="1419966"/>
            <a:ext cx="431368" cy="4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3600450" y="2023110"/>
            <a:ext cx="216027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700"/>
              <a:buFont typeface="Tahoma"/>
              <a:buNone/>
            </a:pPr>
            <a:r>
              <a:rPr b="1" i="0" lang="th" sz="17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UDP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3600450" y="2386584"/>
            <a:ext cx="21602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ไม่เลือกใช้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806190" y="2777490"/>
            <a:ext cx="178308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ไม่รับประกันการส่งถึง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ไม่รับประกันลำดับ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ไม่มีแนวคิด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(server push ไม่ได้)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000750" y="1097280"/>
            <a:ext cx="2729484" cy="3566160"/>
          </a:xfrm>
          <a:prstGeom prst="roundRect">
            <a:avLst>
              <a:gd fmla="val 3518" name="adj"/>
            </a:avLst>
          </a:prstGeom>
          <a:solidFill>
            <a:srgbClr val="DCE6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206490" y="1303020"/>
            <a:ext cx="23317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สรุปการแลกเปลี่ยน (Trade-off)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206490" y="1714500"/>
            <a:ext cx="233172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  <a:t>แลกกับ latency ที่สูงกว่า UDP เล็กน้อย จาก 3-way handshake และกลไกรับประกันความถูกต้อง แต่ระบบประมูลให้ความสำคัญกับความถูกต้องของธุรกรรมมากกว่าความเร็วสูงสุด จึงยอมรับได้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APPLICATION-LAYER PROTOCOL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ออกแบบโปรโตคอล: TCAP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11480" y="973836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Tahoma"/>
              <a:buNone/>
            </a:pPr>
            <a:r>
              <a:rPr b="0" i="0" lang="th" sz="11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Trading Card Auction Protocol — ตั้งชื่อโปรโตคอลของเราเองสำหรับสื่อสารระหว่าง Client และ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11480" y="1440180"/>
            <a:ext cx="7955280" cy="1714500"/>
          </a:xfrm>
          <a:prstGeom prst="roundRect">
            <a:avLst>
              <a:gd fmla="val 4800" name="adj"/>
            </a:avLst>
          </a:prstGeom>
          <a:solidFill>
            <a:srgbClr val="081729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651510" y="1611630"/>
            <a:ext cx="74752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CE6F5"/>
              </a:buClr>
              <a:buSzPts val="1000"/>
              <a:buFont typeface="Tahoma"/>
              <a:buNone/>
            </a:pPr>
            <a:r>
              <a:rPr b="0" i="0" lang="th" sz="10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  <a:t>ทุกข้อความเป็น UTF-8 หนึ่งบรรทัด จบด้วย "\n"</a:t>
            </a:r>
            <a:br>
              <a:rPr b="0" i="0" lang="th" sz="10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th" sz="1000" u="none" cap="none" strike="noStrike">
                <a:solidFill>
                  <a:srgbClr val="DCE6F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th" sz="1400" u="none" cap="none" strike="noStrike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rPr>
              <a:t>Request  : &lt;COMMAND&gt; [arg1] [arg2] ...</a:t>
            </a:r>
            <a:br>
              <a:rPr b="1" i="0" lang="th" sz="1400" u="none" cap="none" strike="noStrike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th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Response : &lt;code&gt; &lt;NAME&gt; [payload ...]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411480" y="3394710"/>
            <a:ext cx="2537460" cy="120015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582930" y="3566160"/>
            <a:ext cx="514350" cy="51435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exchan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795" y="3633025"/>
            <a:ext cx="380619" cy="3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1200150" y="353187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Request /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1200150" y="3861054"/>
            <a:ext cx="1577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รูปแบบเดียวกันทุกคำสั่ง อ่านง่าย debug ง่าย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120390" y="3394710"/>
            <a:ext cx="2537460" cy="120015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291840" y="3566160"/>
            <a:ext cx="514350" cy="51435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bell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8706" y="3633025"/>
            <a:ext cx="380619" cy="3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3909060" y="353187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Push แบบ Async (9xx)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909060" y="3861054"/>
            <a:ext cx="1577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server ส่งเองได้โดย client ไม่ต้องร้องขอ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829300" y="3394710"/>
            <a:ext cx="2537460" cy="120015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6000750" y="3566160"/>
            <a:ext cx="514350" cy="51435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tabl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616" y="3633025"/>
            <a:ext cx="380619" cy="3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6617970" y="3531870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9 คำสั่งหลัก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617970" y="3861054"/>
            <a:ext cx="15773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ครอบคลุมทั้งกรณีสำเร็จและผิดพลาด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PROTOCOL SPEC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ตาราง Request / Response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411480" y="1062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{43864393-87BF-4673-8FEE-6445B2008202}</a:tableStyleId>
              </a:tblPr>
              <a:tblGrid>
                <a:gridCol w="2468875"/>
                <a:gridCol w="3429000"/>
                <a:gridCol w="2400300"/>
              </a:tblGrid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Tahoma"/>
                        <a:buNone/>
                      </a:pPr>
                      <a:r>
                        <a:rPr b="1" lang="th" sz="9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Request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Tahoma"/>
                        <a:buNone/>
                      </a:pPr>
                      <a:r>
                        <a:rPr b="1" lang="th" sz="9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Response สำเร็จ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Tahoma"/>
                        <a:buNone/>
                      </a:pPr>
                      <a:r>
                        <a:rPr b="1" lang="th" sz="9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Response ผิดพลาด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F3A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HELLO &lt;ver&gt;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 OK TCAP/1.0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426 VERSION_NOT_SUPPORTED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LOGIN &lt;user_id&gt;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200 OK &lt;user_id&gt;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400 BAD_REQUEST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LIST_CARDS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205 CARD_LIST &lt;n&gt; + รายการ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GET_PRICE &lt;card_id&gt;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201 PRICE_INFO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404 NOT_FOUND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LIST_AUCTIONS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202 AUCTION_LIST &lt;n&gt; + รายการ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GET_AUCTION &lt;id&gt;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203 AUCTION_INFO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404 NOT_FOUND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PLACE_BID &lt;id&gt; &lt;amt&gt;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204 BID_ACCEPTED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401 / 404 / 409 / 410 / 400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WATCH / UNWATCH &lt;id&gt;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210 WATCHING / 211 UNWATCHED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404 NOT_FOUND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5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Courier New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QUIT</a:t>
                      </a:r>
                      <a:endParaRPr sz="9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299 BYE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33F"/>
                        </a:buClr>
                        <a:buSzPts val="900"/>
                        <a:buFont typeface="Tahoma"/>
                        <a:buNone/>
                      </a:pPr>
                      <a:r>
                        <a:rPr lang="th" sz="900" u="none" cap="none" strike="noStrike">
                          <a:solidFill>
                            <a:srgbClr val="16233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9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0"/>
          <p:cNvSpPr/>
          <p:nvPr/>
        </p:nvSpPr>
        <p:spPr>
          <a:xfrm>
            <a:off x="411480" y="4766310"/>
            <a:ext cx="82981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1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รหัส 9xx = server ส่งมาเองโดยไม่ได้ร้องขอ (asynchronous push) — 900 OUTBID / 901 NEW_BID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REAL-TIME 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Push แจ้งเตือนแบบ Asynchronous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11480" y="1062990"/>
            <a:ext cx="582930" cy="58293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bell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261" y="1138771"/>
            <a:ext cx="431368" cy="4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1131570" y="104927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ourier New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Courier New"/>
                <a:ea typeface="Courier New"/>
                <a:cs typeface="Courier New"/>
                <a:sym typeface="Courier New"/>
              </a:rPr>
              <a:t>900 OUTBID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1131570" y="1337310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แจ้งผู้ใช้ที่เพิ่งโดนแซงราคาโดยตรง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11480" y="1988820"/>
            <a:ext cx="582930" cy="58293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users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261" y="2064601"/>
            <a:ext cx="431368" cy="4313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1131570" y="1975104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ourier New"/>
              <a:buNone/>
            </a:pPr>
            <a:r>
              <a:rPr b="1" i="0" lang="th" sz="1200" u="none" cap="none" strike="noStrike">
                <a:solidFill>
                  <a:srgbClr val="0B1F3A"/>
                </a:solidFill>
                <a:latin typeface="Courier New"/>
                <a:ea typeface="Courier New"/>
                <a:cs typeface="Courier New"/>
                <a:sym typeface="Courier New"/>
              </a:rPr>
              <a:t>901 NEW_BID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1131570" y="2263140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broadcast ให้ทุกคนที่ WATCH ห้องนั้นอยู่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11480" y="3120390"/>
            <a:ext cx="29489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900"/>
              <a:buFont typeface="Tahoma"/>
              <a:buNone/>
            </a:pPr>
            <a:r>
              <a:rPr b="0" i="1" lang="th" sz="9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  <a:t>ต้องอาศัย TCP connection ที่ค้างไว้ตลอด session — client ไม่ต้อง poll ถามซ้ำ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deck/img_push_demo.png" id="195" name="Google Shape;19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450" y="1062990"/>
            <a:ext cx="5143500" cy="14950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3600450" y="2619756"/>
            <a:ext cx="51435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1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ภาพจากการรันโปรแกรมจริง: USER-A ติดตามห้อง AUC-002 แล้ว USER-B เสนอราคาใหม่ — USER-A ได้รับแจ้งเตือนทันทีโดยไม่ได้ร้องขอ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CLIENT EXPERIENCE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ใช้งานง่าย: เมนู + ฐานข้อมูลการ์ด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deck/img_client_menu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28700"/>
            <a:ext cx="3806190" cy="352501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4491990" y="1062990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layers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6181" y="1127181"/>
            <a:ext cx="365394" cy="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5109210" y="1049274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โหมดเมนูเป็นค่าเริ่มต้น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109210" y="1323594"/>
            <a:ext cx="34975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เลือกคำสั่งเป็นตัวเลข ไม่ต้องจำ syntax ของโปรโตคอล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4491990" y="1940814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coins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6181" y="2005005"/>
            <a:ext cx="365394" cy="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5109210" y="1927098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ฐานข้อมูลการ์ด 10 ใบ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109210" y="2201418"/>
            <a:ext cx="34975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เมนู "เช็คราคาการ์ด" แสดงรายการทั้งหมดก่อนให้เลือกดู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491990" y="2818638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file.png" id="215" name="Google Shape;21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6181" y="2882829"/>
            <a:ext cx="365394" cy="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5109210" y="2804922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ข้อความแปลเป็นภาษาไทย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109210" y="3079242"/>
            <a:ext cx="34975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ทุก response code แปลเป็นข้อความอ่านง่ายอัตโนมัติ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491990" y="3696462"/>
            <a:ext cx="493776" cy="493776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shield.png" id="219" name="Google Shape;21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56181" y="3760653"/>
            <a:ext cx="365394" cy="36539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5109210" y="3682746"/>
            <a:ext cx="34975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100"/>
              <a:buFont typeface="Tahoma"/>
              <a:buNone/>
            </a:pPr>
            <a:r>
              <a:rPr b="1" i="0" lang="th" sz="11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ตรวจสอบ input ก่อนส่ง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109210" y="3957066"/>
            <a:ext cx="34975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กันพิมพ์จำนวนเงินผิดก่อนยิง request ไปที่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PROTOCOL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การทำงานจริงด้วย Wireshark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11480" y="973836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00"/>
              <a:buFont typeface="Tahoma"/>
              <a:buNone/>
            </a:pPr>
            <a:r>
              <a:rPr b="0" i="0" lang="th" sz="11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ดักจับ traffic บน loopback (127.0.0.1:5555) ขณะรัน USER-01 (watch) กับ USER-02 (bid) พร้อมกัน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56616" y="1282446"/>
            <a:ext cx="8065008" cy="1123947"/>
          </a:xfrm>
          <a:prstGeom prst="roundRect">
            <a:avLst>
              <a:gd fmla="val 3661" name="adj"/>
            </a:avLst>
          </a:prstGeom>
          <a:solidFill>
            <a:srgbClr val="1B1D23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wireshark_packets.png"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37310"/>
            <a:ext cx="7955280" cy="101421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411480" y="2591559"/>
            <a:ext cx="1783080" cy="994410"/>
          </a:xfrm>
          <a:prstGeom prst="roundRect">
            <a:avLst>
              <a:gd fmla="val 8276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411480" y="2728719"/>
            <a:ext cx="17830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Tahoma"/>
              <a:buNone/>
            </a:pPr>
            <a:r>
              <a:rPr b="1" i="0" lang="th" sz="20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0.3 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14350" y="3243069"/>
            <a:ext cx="15773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ช่วงเวลาจาก bid ถึง push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2434590" y="2591559"/>
            <a:ext cx="5932170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Courier New"/>
              <a:buNone/>
            </a:pPr>
            <a:r>
              <a:rPr b="1" i="0" lang="th" sz="1000" u="none" cap="none" strike="noStrike">
                <a:solidFill>
                  <a:srgbClr val="0B1F3A"/>
                </a:solidFill>
                <a:latin typeface="Courier New"/>
                <a:ea typeface="Courier New"/>
                <a:cs typeface="Courier New"/>
                <a:sym typeface="Courier New"/>
              </a:rPr>
              <a:t>แถว 54  </a:t>
            </a:r>
            <a:r>
              <a:rPr b="0" i="0" lang="th" sz="9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  <a:t>USER-02 (port 65138) ส่ง PLACE_BID เข้า server ที่เวลา 60.390225</a:t>
            </a:r>
            <a:br>
              <a:rPr b="0" i="0" lang="th" sz="9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th" sz="1000" u="none" cap="none" strike="noStrike">
                <a:solidFill>
                  <a:srgbClr val="0B1F3A"/>
                </a:solidFill>
                <a:latin typeface="Courier New"/>
                <a:ea typeface="Courier New"/>
                <a:cs typeface="Courier New"/>
                <a:sym typeface="Courier New"/>
              </a:rPr>
              <a:t>แถว 56  </a:t>
            </a:r>
            <a:r>
              <a:rPr b="0" i="0" lang="th" sz="9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  <a:t>server ส่งข้อความไปหา USER-01 (port 65137) ทันทีที่เวลา 60.390536 — โดย USER-01 ไม่ได้ส่ง request ใด ๆ มาก่อนเลย (คำสั่งล่าสุดของ USER-01 ห่างออกไปถึง 16 วินาที)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411480" y="3723129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000"/>
              <a:buFont typeface="Tahoma"/>
              <a:buNone/>
            </a:pPr>
            <a:r>
              <a:rPr b="1" i="1" lang="th" sz="10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แพ็กเก็ตนี้พิสูจน์ว่า server สามารถ push ข้อความหา client ได้เองโดยไม่ต้องรอ request — เป็นไปได้เพราะ TCP คง connection ไว้ตลอด session ตรงกับเหตุผลข้อ "Connection-oriented" ที่ใช้เลือก TCP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PROTOCOL VERIFICATION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Follow TCP Stream: เนื้อหาจริงของข้อความ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356616" y="1008126"/>
            <a:ext cx="3913847" cy="3641598"/>
          </a:xfrm>
          <a:prstGeom prst="roundRect">
            <a:avLst>
              <a:gd fmla="val 1130" name="adj"/>
            </a:avLst>
          </a:prstGeom>
          <a:solidFill>
            <a:srgbClr val="1B1D23"/>
          </a:solidFill>
          <a:ln cap="flat" cmpd="sng" w="12700">
            <a:solidFill>
              <a:srgbClr val="DC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wireshark_stream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62990"/>
            <a:ext cx="3804119" cy="353187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/>
          <p:nvPr/>
        </p:nvSpPr>
        <p:spPr>
          <a:xfrm>
            <a:off x="4558499" y="1097280"/>
            <a:ext cx="480060" cy="4800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exchan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0906" y="1159688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/>
          <p:nvPr/>
        </p:nvSpPr>
        <p:spPr>
          <a:xfrm>
            <a:off x="5175719" y="1083564"/>
            <a:ext cx="355657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Tahoma"/>
              <a:buNone/>
            </a:pPr>
            <a:r>
              <a:rPr b="1" i="0" lang="th" sz="10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แดง = Client, น้ำเงิน = Server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175719" y="1522476"/>
            <a:ext cx="35565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อ่านออกได้ตรง ๆ เพราะ TCAP เป็น plain-text protocol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558499" y="2160270"/>
            <a:ext cx="480060" cy="4800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list.png" id="253" name="Google Shape;2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0906" y="2222678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5175719" y="2146554"/>
            <a:ext cx="355657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Tahoma"/>
              <a:buNone/>
            </a:pPr>
            <a:r>
              <a:rPr b="1" i="0" lang="th" sz="10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LOGIN → LIST_CARDS → GET_PRICE → WATCH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175719" y="2585466"/>
            <a:ext cx="35565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ลำดับ request/response ตรงตาม spec ที่ออกแบบไว้ทุกขั้นตอน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4558499" y="3223260"/>
            <a:ext cx="480060" cy="4800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bell.png" id="257" name="Google Shape;25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0906" y="3285668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/>
          <p:nvPr/>
        </p:nvSpPr>
        <p:spPr>
          <a:xfrm>
            <a:off x="5175719" y="3209544"/>
            <a:ext cx="355657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000"/>
              <a:buFont typeface="Tahoma"/>
              <a:buNone/>
            </a:pPr>
            <a:r>
              <a:rPr b="1" i="0" lang="th" sz="10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901 NEW_BID AUC-001 46000 USER-02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175719" y="3648456"/>
            <a:ext cx="355657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บรรทัดสุดท้าย — โผล่มาเองหลัง WATCH โดยไม่มี request จาก USER-01 นำหน้า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/>
          <p:nvPr/>
        </p:nvSpPr>
        <p:spPr>
          <a:xfrm>
            <a:off x="411480" y="288036"/>
            <a:ext cx="6858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900"/>
              <a:buFont typeface="Tahoma"/>
              <a:buNone/>
            </a:pPr>
            <a:r>
              <a:rPr b="1" i="0" lang="th" sz="9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411480" y="466344"/>
            <a:ext cx="78867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0B1F3A"/>
                </a:solidFill>
                <a:latin typeface="Tahoma"/>
                <a:ea typeface="Tahoma"/>
                <a:cs typeface="Tahoma"/>
                <a:sym typeface="Tahoma"/>
              </a:rPr>
              <a:t>สรุปโครงการ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411480" y="1200150"/>
            <a:ext cx="1885950" cy="1371600"/>
          </a:xfrm>
          <a:prstGeom prst="roundRect">
            <a:avLst>
              <a:gd fmla="val 60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411480" y="1419606"/>
            <a:ext cx="18859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TCP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14350" y="2057400"/>
            <a:ext cx="16802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2489454" y="1200150"/>
            <a:ext cx="1885950" cy="1371600"/>
          </a:xfrm>
          <a:prstGeom prst="roundRect">
            <a:avLst>
              <a:gd fmla="val 60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2489454" y="1419606"/>
            <a:ext cx="18859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TCAP v1.0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592324" y="2057400"/>
            <a:ext cx="16802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ชื่อโปรโตคอล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4567428" y="1200150"/>
            <a:ext cx="1885950" cy="1371600"/>
          </a:xfrm>
          <a:prstGeom prst="roundRect">
            <a:avLst>
              <a:gd fmla="val 60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4567428" y="1419606"/>
            <a:ext cx="18859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9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4670298" y="2057400"/>
            <a:ext cx="16802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คำสั่งหลักในโปรโตคอล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645402" y="1200150"/>
            <a:ext cx="1885950" cy="1371600"/>
          </a:xfrm>
          <a:prstGeom prst="roundRect">
            <a:avLst>
              <a:gd fmla="val 6000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6645402" y="1419606"/>
            <a:ext cx="18859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300"/>
              <a:buFont typeface="Tahoma"/>
              <a:buNone/>
            </a:pPr>
            <a:r>
              <a:rPr b="1" i="0" lang="th" sz="2300" u="none" cap="none" strike="noStrike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10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6748272" y="2057400"/>
            <a:ext cx="168021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ahoma"/>
              <a:buNone/>
            </a:pPr>
            <a:r>
              <a:rPr b="0" i="0" lang="th" sz="9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การ์ดในฐานข้อมูล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411480" y="2846070"/>
            <a:ext cx="82981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1100"/>
              <a:buFont typeface="Tahoma"/>
              <a:buNone/>
            </a:pPr>
            <a:r>
              <a:rPr b="0" i="0" lang="th" sz="1100" u="none" cap="none" strike="noStrike">
                <a:solidFill>
                  <a:srgbClr val="16233F"/>
                </a:solidFill>
                <a:latin typeface="Tahoma"/>
                <a:ea typeface="Tahoma"/>
                <a:cs typeface="Tahoma"/>
                <a:sym typeface="Tahoma"/>
              </a:rPr>
              <a:t>TCAP เป็นโปรโตคอลระดับ Application ที่ออกแบบเฉพาะสำหรับระบบประมูลการ์ดเกมออนไลน์แบบเรียลไทม์ ใช้ TCP เพื่อรับประกันความถูกต้องของธุรกรรม และอาศัย connection ที่คงอยู่ตลอด session เพื่อ push แจ้งเตือนให้ผู้ใช้ทันทีโดยไม่ต้อง poll ถามซ้ำ พร้อม client ที่ใช้งานง่ายด้วยเมนูภาษาไทย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8663711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800"/>
              <a:buFont typeface="Tahoma"/>
              <a:buNone/>
            </a:pPr>
            <a:r>
              <a:rPr b="0" i="0" lang="th" sz="800" u="none" cap="none" strike="noStrike">
                <a:solidFill>
                  <a:srgbClr val="5B6B85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/>
          <p:nvPr/>
        </p:nvSpPr>
        <p:spPr>
          <a:xfrm>
            <a:off x="6583680" y="1577340"/>
            <a:ext cx="2125980" cy="2125980"/>
          </a:xfrm>
          <a:prstGeom prst="ellipse">
            <a:avLst/>
          </a:prstGeom>
          <a:solidFill>
            <a:srgbClr val="081729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deck/icons/gavel.png"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3740" y="2057400"/>
            <a:ext cx="1165860" cy="116586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/>
          <p:nvPr/>
        </p:nvSpPr>
        <p:spPr>
          <a:xfrm>
            <a:off x="514350" y="1758460"/>
            <a:ext cx="548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Tahoma"/>
              <a:buNone/>
            </a:pPr>
            <a:r>
              <a:rPr b="1" lang="th" sz="4100">
                <a:solidFill>
                  <a:srgbClr val="D4AF37"/>
                </a:solidFill>
                <a:latin typeface="Tahoma"/>
                <a:ea typeface="Tahoma"/>
                <a:cs typeface="Tahoma"/>
                <a:sym typeface="Tahoma"/>
              </a:rPr>
              <a:t>จบการนำเสนอ</a:t>
            </a:r>
            <a:endParaRPr b="0" i="0" sz="4100" u="none" cap="none" strike="noStrike">
              <a:solidFill>
                <a:srgbClr val="D4A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14350" y="257175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ahoma"/>
              <a:buNone/>
            </a:pPr>
            <a:r>
              <a:rPr b="1" lang="th" sz="41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ขอบคุณครับ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